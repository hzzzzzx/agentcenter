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3993" y="121916"/>
            <a:ext cx="5079872" cy="30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0A0A"/>
                </a:solidFill>
              </a:defRPr>
            </a:pPr>
            <a:r>
              <a:t>AgentCenter 信息流泳道图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253993" y="426709"/>
            <a:ext cx="1015974" cy="30479"/>
          </a:xfrm>
          <a:prstGeom prst="rect">
            <a:avLst/>
          </a:prstGeom>
          <a:solidFill>
            <a:srgbClr val="007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3993" y="589265"/>
            <a:ext cx="863578" cy="772140"/>
          </a:xfrm>
          <a:prstGeom prst="rect">
            <a:avLst/>
          </a:prstGeom>
          <a:solidFill>
            <a:srgbClr val="E3F2FD"/>
          </a:solidFill>
          <a:ln w="1270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37474F"/>
                </a:solidFill>
              </a:defRPr>
            </a:pPr>
            <a:r>
              <a:t>需求系统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253993" y="589265"/>
            <a:ext cx="40638" cy="7721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19169" y="670543"/>
            <a:ext cx="487667" cy="18287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37474F"/>
                </a:solidFill>
              </a:defRPr>
            </a:pPr>
            <a:r>
              <a:t>提出需求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77955" y="873738"/>
            <a:ext cx="487667" cy="18287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37474F"/>
                </a:solidFill>
              </a:defRPr>
            </a:pPr>
            <a:r>
              <a:t>需求评审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6741" y="1097252"/>
            <a:ext cx="487667" cy="18287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37474F"/>
                </a:solidFill>
              </a:defRPr>
            </a:pPr>
            <a:r>
              <a:t>需求分配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5527" y="772140"/>
            <a:ext cx="487667" cy="18287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37474F"/>
                </a:solidFill>
              </a:defRPr>
            </a:pPr>
            <a:r>
              <a:t>需求确认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03.4" y="853418.6499999999"/>
            <a:ext cx="0.0" cy="111757.20416666672"/>
          </a:xfrm>
          <a:prstGeom prst="line">
            <a:avLst/>
          </a:prstGeom>
          <a:ln w="19050">
            <a:solidFill>
              <a:srgbClr val="607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463003.4" y="965175.8541666666"/>
            <a:ext cx="314952.12083333335" cy="0.0"/>
          </a:xfrm>
          <a:prstGeom prst="line">
            <a:avLst/>
          </a:prstGeom>
          <a:ln w="19050">
            <a:solidFill>
              <a:srgbClr val="607D8B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021789.4208333332" y="1056613.5666666667"/>
            <a:ext cx="0.0" cy="132076.6958333333"/>
          </a:xfrm>
          <a:prstGeom prst="line">
            <a:avLst/>
          </a:prstGeom>
          <a:ln w="19050">
            <a:solidFill>
              <a:srgbClr val="607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021789.4208333332" y="1188690.2625"/>
            <a:ext cx="314952.12083333335" cy="0.0"/>
          </a:xfrm>
          <a:prstGeom prst="line">
            <a:avLst/>
          </a:prstGeom>
          <a:ln w="19050">
            <a:solidFill>
              <a:srgbClr val="607D8B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580575.4416666664" y="863578.3958333333"/>
            <a:ext cx="0.0" cy="416549.5791666666"/>
          </a:xfrm>
          <a:prstGeom prst="line">
            <a:avLst/>
          </a:prstGeom>
          <a:ln w="19050">
            <a:solidFill>
              <a:srgbClr val="607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580575.4416666664" y="863578.3958333333"/>
            <a:ext cx="314952.1208333331" cy="0.0"/>
          </a:xfrm>
          <a:prstGeom prst="line">
            <a:avLst/>
          </a:prstGeom>
          <a:ln w="19050">
            <a:solidFill>
              <a:srgbClr val="607D8B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53993" y="1361405"/>
            <a:ext cx="863578" cy="772140"/>
          </a:xfrm>
          <a:prstGeom prst="rect">
            <a:avLst/>
          </a:prstGeom>
          <a:solidFill>
            <a:srgbClr val="E8F5E9"/>
          </a:solidFill>
          <a:ln w="1270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37474F"/>
                </a:solidFill>
              </a:defRPr>
            </a:pPr>
            <a:r>
              <a:t>开发环境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3993" y="1361405"/>
            <a:ext cx="40638" cy="7721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84665" y="1442683"/>
            <a:ext cx="487667" cy="18287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37474F"/>
                </a:solidFill>
              </a:defRPr>
            </a:pPr>
            <a:r>
              <a:t>技术方案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451" y="1869393"/>
            <a:ext cx="487667" cy="18287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37474F"/>
                </a:solidFill>
              </a:defRPr>
            </a:pPr>
            <a:r>
              <a:t>代码编写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02237" y="1442683"/>
            <a:ext cx="487667" cy="18287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37474F"/>
                </a:solidFill>
              </a:defRPr>
            </a:pPr>
            <a:r>
              <a:t>代码评审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61023" y="1869393"/>
            <a:ext cx="487667" cy="18287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37474F"/>
                </a:solidFill>
              </a:defRPr>
            </a:pPr>
            <a:r>
              <a:t>方案确认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28499.191666666" y="1625559.3333333333"/>
            <a:ext cx="0.0" cy="243833.8999999999"/>
          </a:xfrm>
          <a:prstGeom prst="line">
            <a:avLst/>
          </a:prstGeom>
          <a:ln w="19050">
            <a:solidFill>
              <a:srgbClr val="607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628499.191666666" y="1869393.2333333332"/>
            <a:ext cx="314952.12083333265" cy="0.0"/>
          </a:xfrm>
          <a:prstGeom prst="line">
            <a:avLst/>
          </a:prstGeom>
          <a:ln w="19050">
            <a:solidFill>
              <a:srgbClr val="607D8B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187285.212499999" y="1625559.3333333333"/>
            <a:ext cx="0.0" cy="335271.6124999998"/>
          </a:xfrm>
          <a:prstGeom prst="line">
            <a:avLst/>
          </a:prstGeom>
          <a:ln w="19050">
            <a:solidFill>
              <a:srgbClr val="607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187285.212499999" y="1625559.3333333333"/>
            <a:ext cx="314952.1208333336" cy="0.0"/>
          </a:xfrm>
          <a:prstGeom prst="line">
            <a:avLst/>
          </a:prstGeom>
          <a:ln w="19050">
            <a:solidFill>
              <a:srgbClr val="607D8B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746071.233333332" y="1625559.3333333333"/>
            <a:ext cx="0.0" cy="243833.8999999999"/>
          </a:xfrm>
          <a:prstGeom prst="line">
            <a:avLst/>
          </a:prstGeom>
          <a:ln w="19050">
            <a:solidFill>
              <a:srgbClr val="607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746071.233333332" y="1869393.2333333332"/>
            <a:ext cx="314952.1208333336" cy="0.0"/>
          </a:xfrm>
          <a:prstGeom prst="line">
            <a:avLst/>
          </a:prstGeom>
          <a:ln w="19050">
            <a:solidFill>
              <a:srgbClr val="607D8B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53993" y="2133546"/>
            <a:ext cx="863578" cy="772140"/>
          </a:xfrm>
          <a:prstGeom prst="rect">
            <a:avLst/>
          </a:prstGeom>
          <a:solidFill>
            <a:srgbClr val="E3F2FD"/>
          </a:solidFill>
          <a:ln w="1270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37474F"/>
                </a:solidFill>
              </a:defRPr>
            </a:pPr>
            <a:r>
              <a:t>代码仓库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3993" y="2133546"/>
            <a:ext cx="40638" cy="7721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539936" y="2214824"/>
            <a:ext cx="487667" cy="18287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37474F"/>
                </a:solidFill>
              </a:defRPr>
            </a:pPr>
            <a:r>
              <a:t>提交代码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98722" y="2621214"/>
            <a:ext cx="487667" cy="18287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37474F"/>
                </a:solidFill>
              </a:defRPr>
            </a:pPr>
            <a:r>
              <a:t>发起MR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508" y="2621214"/>
            <a:ext cx="487667" cy="18287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37474F"/>
                </a:solidFill>
              </a:defRPr>
            </a:pPr>
            <a:r>
              <a:t>代码审查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16294" y="2214824"/>
            <a:ext cx="487667" cy="18287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37474F"/>
                </a:solidFill>
              </a:defRPr>
            </a:pPr>
            <a:r>
              <a:t>合并代码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783770.358333333" y="2397700.0166666666"/>
            <a:ext cx="0.0" cy="314952.1208333331"/>
          </a:xfrm>
          <a:prstGeom prst="line">
            <a:avLst/>
          </a:prstGeom>
          <a:ln w="19050">
            <a:solidFill>
              <a:srgbClr val="607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783770.358333333" y="2712652.1374999997"/>
            <a:ext cx="314952.1208333336" cy="0.0"/>
          </a:xfrm>
          <a:prstGeom prst="line">
            <a:avLst/>
          </a:prstGeom>
          <a:ln w="19050">
            <a:solidFill>
              <a:srgbClr val="607D8B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342556.3791666664" y="2712652.1374999997"/>
            <a:ext cx="0.0" cy="91437.7124999999"/>
          </a:xfrm>
          <a:prstGeom prst="line">
            <a:avLst/>
          </a:prstGeom>
          <a:ln w="19050">
            <a:solidFill>
              <a:srgbClr val="607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342556.3791666664" y="2712652.1374999997"/>
            <a:ext cx="314952.1208333331" cy="0.0"/>
          </a:xfrm>
          <a:prstGeom prst="line">
            <a:avLst/>
          </a:prstGeom>
          <a:ln w="19050">
            <a:solidFill>
              <a:srgbClr val="607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901342.3999999994" y="2306262.3041666667"/>
            <a:ext cx="0.0" cy="314952.1208333331"/>
          </a:xfrm>
          <a:prstGeom prst="line">
            <a:avLst/>
          </a:prstGeom>
          <a:ln w="19050">
            <a:solidFill>
              <a:srgbClr val="607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901342.3999999994" y="2306262.3041666667"/>
            <a:ext cx="314952.1208333336" cy="0.0"/>
          </a:xfrm>
          <a:prstGeom prst="line">
            <a:avLst/>
          </a:prstGeom>
          <a:ln w="19050">
            <a:solidFill>
              <a:srgbClr val="607D8B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53993" y="2905687"/>
            <a:ext cx="863578" cy="772140"/>
          </a:xfrm>
          <a:prstGeom prst="rect">
            <a:avLst/>
          </a:prstGeom>
          <a:solidFill>
            <a:srgbClr val="E8F5E9"/>
          </a:solidFill>
          <a:ln w="1270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37474F"/>
                </a:solidFill>
              </a:defRPr>
            </a:pPr>
            <a:r>
              <a:t>CI/CD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3993" y="2905687"/>
            <a:ext cx="40638" cy="7721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673483" y="3413674"/>
            <a:ext cx="487667" cy="18287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37474F"/>
                </a:solidFill>
              </a:defRPr>
            </a:pPr>
            <a:r>
              <a:t>触发构建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232269" y="2986965"/>
            <a:ext cx="487667" cy="18287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37474F"/>
                </a:solidFill>
              </a:defRPr>
            </a:pPr>
            <a:r>
              <a:t>执行测试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791055" y="3413674"/>
            <a:ext cx="487667" cy="18287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37474F"/>
                </a:solidFill>
              </a:defRPr>
            </a:pPr>
            <a:r>
              <a:t>生成报告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49841" y="2986965"/>
            <a:ext cx="487667" cy="18287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37474F"/>
                </a:solidFill>
              </a:defRPr>
            </a:pPr>
            <a:r>
              <a:t>镜像构建</a:t>
            </a:r>
          </a:p>
        </p:txBody>
      </p:sp>
      <p:cxnSp>
        <p:nvCxnSpPr>
          <p:cNvPr id="46" name="Connector 45"/>
          <p:cNvCxnSpPr/>
          <p:nvPr/>
        </p:nvCxnSpPr>
        <p:spPr>
          <a:xfrm flipV="1">
            <a:off x="4917316.983333332" y="3078402.9875"/>
            <a:ext cx="0.0" cy="518147.0375000001"/>
          </a:xfrm>
          <a:prstGeom prst="line">
            <a:avLst/>
          </a:prstGeom>
          <a:ln w="19050">
            <a:solidFill>
              <a:srgbClr val="607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917316.983333332" y="3078402.9875"/>
            <a:ext cx="314952.1208333336" cy="0.0"/>
          </a:xfrm>
          <a:prstGeom prst="line">
            <a:avLst/>
          </a:prstGeom>
          <a:ln w="19050">
            <a:solidFill>
              <a:srgbClr val="607D8B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476103.004166666" y="3169840.6999999997"/>
            <a:ext cx="0.0" cy="335271.6124999998"/>
          </a:xfrm>
          <a:prstGeom prst="line">
            <a:avLst/>
          </a:prstGeom>
          <a:ln w="19050">
            <a:solidFill>
              <a:srgbClr val="607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476103.004166666" y="3505112.3124999995"/>
            <a:ext cx="314952.12083333265" cy="0.0"/>
          </a:xfrm>
          <a:prstGeom prst="line">
            <a:avLst/>
          </a:prstGeom>
          <a:ln w="19050">
            <a:solidFill>
              <a:srgbClr val="607D8B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6034889.024999999" y="3078402.9875"/>
            <a:ext cx="0.0" cy="518147.0375000001"/>
          </a:xfrm>
          <a:prstGeom prst="line">
            <a:avLst/>
          </a:prstGeom>
          <a:ln w="19050">
            <a:solidFill>
              <a:srgbClr val="607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034889.024999999" y="3078402.9875"/>
            <a:ext cx="314952.1208333336" cy="0.0"/>
          </a:xfrm>
          <a:prstGeom prst="line">
            <a:avLst/>
          </a:prstGeom>
          <a:ln w="19050">
            <a:solidFill>
              <a:srgbClr val="607D8B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253993" y="3677827"/>
            <a:ext cx="863578" cy="772140"/>
          </a:xfrm>
          <a:prstGeom prst="rect">
            <a:avLst/>
          </a:prstGeom>
          <a:solidFill>
            <a:srgbClr val="E3F2FD"/>
          </a:solidFill>
          <a:ln w="1270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37474F"/>
                </a:solidFill>
              </a:defRPr>
            </a:pPr>
            <a:r>
              <a:t>部署环境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53993" y="3677827"/>
            <a:ext cx="40638" cy="7721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320766" y="3759105"/>
            <a:ext cx="487667" cy="18287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37474F"/>
                </a:solidFill>
              </a:defRPr>
            </a:pPr>
            <a:r>
              <a:t>部署测试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879552" y="4206134"/>
            <a:ext cx="487667" cy="18287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37474F"/>
                </a:solidFill>
              </a:defRPr>
            </a:pPr>
            <a:r>
              <a:t>预发布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438339" y="4206134"/>
            <a:ext cx="487667" cy="18287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37474F"/>
                </a:solidFill>
              </a:defRPr>
            </a:pPr>
            <a:r>
              <a:t>发布生产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997125" y="3759105"/>
            <a:ext cx="487667" cy="18287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37474F"/>
                </a:solidFill>
              </a:defRPr>
            </a:pPr>
            <a:r>
              <a:t>健康检查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564600.8583333332" y="3941981.383333333"/>
            <a:ext cx="0.0" cy="355591.104166667"/>
          </a:xfrm>
          <a:prstGeom prst="line">
            <a:avLst/>
          </a:prstGeom>
          <a:ln w="19050">
            <a:solidFill>
              <a:srgbClr val="607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564600.8583333332" y="4297572.4875"/>
            <a:ext cx="314952.12083333335" cy="0.0"/>
          </a:xfrm>
          <a:prstGeom prst="line">
            <a:avLst/>
          </a:prstGeom>
          <a:ln w="19050">
            <a:solidFill>
              <a:srgbClr val="607D8B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123386.8791666664" y="4297572.4875"/>
            <a:ext cx="314952.1208333336" cy="0.0"/>
          </a:xfrm>
          <a:prstGeom prst="line">
            <a:avLst/>
          </a:prstGeom>
          <a:ln w="19050">
            <a:solidFill>
              <a:srgbClr val="607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2682172.9" y="3850543.670833333"/>
            <a:ext cx="0.0" cy="447028.8166666669"/>
          </a:xfrm>
          <a:prstGeom prst="line">
            <a:avLst/>
          </a:prstGeom>
          <a:ln w="19050">
            <a:solidFill>
              <a:srgbClr val="607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682172.9" y="3850543.670833333"/>
            <a:ext cx="314952.1208333331" cy="0.0"/>
          </a:xfrm>
          <a:prstGeom prst="line">
            <a:avLst/>
          </a:prstGeom>
          <a:ln w="19050">
            <a:solidFill>
              <a:srgbClr val="607D8B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253993" y="4449968"/>
            <a:ext cx="863578" cy="772140"/>
          </a:xfrm>
          <a:prstGeom prst="rect">
            <a:avLst/>
          </a:prstGeom>
          <a:solidFill>
            <a:srgbClr val="E8F5E9"/>
          </a:solidFill>
          <a:ln w="1270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37474F"/>
                </a:solidFill>
              </a:defRPr>
            </a:pPr>
            <a:r>
              <a:t>运维管理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53993" y="4449968"/>
            <a:ext cx="40638" cy="7721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4368690" y="4978275"/>
            <a:ext cx="487667" cy="18287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37474F"/>
                </a:solidFill>
              </a:defRPr>
            </a:pPr>
            <a:r>
              <a:t>故障检测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927476" y="4531246"/>
            <a:ext cx="487667" cy="18287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37474F"/>
                </a:solidFill>
              </a:defRPr>
            </a:pPr>
            <a:r>
              <a:t>问题定位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486262" y="4531246"/>
            <a:ext cx="487667" cy="18287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37474F"/>
                </a:solidFill>
              </a:defRPr>
            </a:pPr>
            <a:r>
              <a:t>自动修复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045048" y="4978275"/>
            <a:ext cx="487667" cy="18287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37474F"/>
                </a:solidFill>
              </a:defRPr>
            </a:pPr>
            <a:r>
              <a:t>运维操作</a:t>
            </a:r>
          </a:p>
        </p:txBody>
      </p:sp>
      <p:cxnSp>
        <p:nvCxnSpPr>
          <p:cNvPr id="69" name="Connector 68"/>
          <p:cNvCxnSpPr/>
          <p:nvPr/>
        </p:nvCxnSpPr>
        <p:spPr>
          <a:xfrm flipV="1">
            <a:off x="4612524.608333333" y="4622684.354166666"/>
            <a:ext cx="0.0" cy="447028.8166666664"/>
          </a:xfrm>
          <a:prstGeom prst="line">
            <a:avLst/>
          </a:prstGeom>
          <a:ln w="19050">
            <a:solidFill>
              <a:srgbClr val="607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612524.608333333" y="4622684.354166666"/>
            <a:ext cx="314952.12083333265" cy="0.0"/>
          </a:xfrm>
          <a:prstGeom prst="line">
            <a:avLst/>
          </a:prstGeom>
          <a:ln w="19050">
            <a:solidFill>
              <a:srgbClr val="607D8B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171310.629166666" y="4622684.354166666"/>
            <a:ext cx="314952.1208333336" cy="0.0"/>
          </a:xfrm>
          <a:prstGeom prst="line">
            <a:avLst/>
          </a:prstGeom>
          <a:ln w="19050">
            <a:solidFill>
              <a:srgbClr val="607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5730096.649999999" y="4622684.354166666"/>
            <a:ext cx="0.0" cy="447028.8166666664"/>
          </a:xfrm>
          <a:prstGeom prst="line">
            <a:avLst/>
          </a:prstGeom>
          <a:ln w="19050">
            <a:solidFill>
              <a:srgbClr val="607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5730096.649999999" y="5069713.170833332"/>
            <a:ext cx="314952.1208333336" cy="0.0"/>
          </a:xfrm>
          <a:prstGeom prst="line">
            <a:avLst/>
          </a:prstGeom>
          <a:ln w="19050">
            <a:solidFill>
              <a:srgbClr val="607D8B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253993" y="5222109"/>
            <a:ext cx="863578" cy="772140"/>
          </a:xfrm>
          <a:prstGeom prst="rect">
            <a:avLst/>
          </a:prstGeom>
          <a:solidFill>
            <a:srgbClr val="E3F2FD"/>
          </a:solidFill>
          <a:ln w="1270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37474F"/>
                </a:solidFill>
              </a:defRPr>
            </a:pPr>
            <a:r>
              <a:t>监控告警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53993" y="5222109"/>
            <a:ext cx="40638" cy="7721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5994250" y="5344026"/>
            <a:ext cx="487667" cy="18287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37474F"/>
                </a:solidFill>
              </a:defRPr>
            </a:pPr>
            <a:r>
              <a:t>指标采集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553036" y="5709777"/>
            <a:ext cx="487667" cy="18287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37474F"/>
                </a:solidFill>
              </a:defRPr>
            </a:pPr>
            <a:r>
              <a:t>阈值检测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111822" y="5425304"/>
            <a:ext cx="487667" cy="18287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37474F"/>
                </a:solidFill>
              </a:defRPr>
            </a:pPr>
            <a:r>
              <a:t>触发告警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670608" y="5628499"/>
            <a:ext cx="487667" cy="18287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37474F"/>
                </a:solidFill>
              </a:defRPr>
            </a:pPr>
            <a:r>
              <a:t>告警确认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6238083.941666666" y="5526901.733333332"/>
            <a:ext cx="0.0" cy="365750.85000000056"/>
          </a:xfrm>
          <a:prstGeom prst="line">
            <a:avLst/>
          </a:prstGeom>
          <a:ln w="19050">
            <a:solidFill>
              <a:srgbClr val="607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6238083.941666666" y="5892652.583333333"/>
            <a:ext cx="314952.12083333265" cy="0.0"/>
          </a:xfrm>
          <a:prstGeom prst="line">
            <a:avLst/>
          </a:prstGeom>
          <a:ln w="19050">
            <a:solidFill>
              <a:srgbClr val="607D8B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6796869.962499999" y="5516741.9875"/>
            <a:ext cx="0.0" cy="375910.5958333332"/>
          </a:xfrm>
          <a:prstGeom prst="line">
            <a:avLst/>
          </a:prstGeom>
          <a:ln w="19050">
            <a:solidFill>
              <a:srgbClr val="607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6796869.962499999" y="5516741.9875"/>
            <a:ext cx="314952.1208333336" cy="0.0"/>
          </a:xfrm>
          <a:prstGeom prst="line">
            <a:avLst/>
          </a:prstGeom>
          <a:ln w="19050">
            <a:solidFill>
              <a:srgbClr val="607D8B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355655.983333332" y="5608179.699999999"/>
            <a:ext cx="0.0" cy="203194.91666666698"/>
          </a:xfrm>
          <a:prstGeom prst="line">
            <a:avLst/>
          </a:prstGeom>
          <a:ln w="19050">
            <a:solidFill>
              <a:srgbClr val="607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355655.983333332" y="5811374.616666666"/>
            <a:ext cx="314952.1208333336" cy="0.0"/>
          </a:xfrm>
          <a:prstGeom prst="line">
            <a:avLst/>
          </a:prstGeom>
          <a:ln w="19050">
            <a:solidFill>
              <a:srgbClr val="607D8B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253993" y="5994250"/>
            <a:ext cx="863578" cy="772140"/>
          </a:xfrm>
          <a:prstGeom prst="rect">
            <a:avLst/>
          </a:prstGeom>
          <a:solidFill>
            <a:srgbClr val="E8F5E9"/>
          </a:solidFill>
          <a:ln w="1270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37474F"/>
                </a:solidFill>
              </a:defRPr>
            </a:pPr>
            <a:r>
              <a:t>通知协作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53993" y="5994250"/>
            <a:ext cx="40638" cy="7721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3149521" y="6116166"/>
            <a:ext cx="487667" cy="18287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37474F"/>
                </a:solidFill>
              </a:defRPr>
            </a:pPr>
            <a:r>
              <a:t>推送通知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708307" y="6319361"/>
            <a:ext cx="487667" cy="18287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37474F"/>
                </a:solidFill>
              </a:defRPr>
            </a:pPr>
            <a:r>
              <a:t>任务协作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267093" y="6522556"/>
            <a:ext cx="487667" cy="18287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37474F"/>
                </a:solidFill>
              </a:defRPr>
            </a:pPr>
            <a:r>
              <a:t>进度同步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825879" y="6156805"/>
            <a:ext cx="487667" cy="18287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" rIns="127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37474F"/>
                </a:solidFill>
              </a:defRPr>
            </a:pPr>
            <a:r>
              <a:t>流程完成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3393355.108333333" y="6299042.416666666"/>
            <a:ext cx="0.0" cy="111757.2041666666"/>
          </a:xfrm>
          <a:prstGeom prst="line">
            <a:avLst/>
          </a:prstGeom>
          <a:ln w="19050">
            <a:solidFill>
              <a:srgbClr val="607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3393355.108333333" y="6410799.620833333"/>
            <a:ext cx="314952.1208333336" cy="0.0"/>
          </a:xfrm>
          <a:prstGeom prst="line">
            <a:avLst/>
          </a:prstGeom>
          <a:ln w="19050">
            <a:solidFill>
              <a:srgbClr val="607D8B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3952141.1291666664" y="6502237.333333333"/>
            <a:ext cx="0.0" cy="203194.91666666605"/>
          </a:xfrm>
          <a:prstGeom prst="line">
            <a:avLst/>
          </a:prstGeom>
          <a:ln w="19050">
            <a:solidFill>
              <a:srgbClr val="607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3952141.1291666664" y="6705432.249999999"/>
            <a:ext cx="314952.1208333336" cy="0.0"/>
          </a:xfrm>
          <a:prstGeom prst="line">
            <a:avLst/>
          </a:prstGeom>
          <a:ln w="19050">
            <a:solidFill>
              <a:srgbClr val="607D8B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4510927.149999999" y="6248243.687499999"/>
            <a:ext cx="0.0" cy="457188.5625"/>
          </a:xfrm>
          <a:prstGeom prst="line">
            <a:avLst/>
          </a:prstGeom>
          <a:ln w="19050">
            <a:solidFill>
              <a:srgbClr val="607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4510927.149999999" y="6248243.687499999"/>
            <a:ext cx="314952.1208333336" cy="0.0"/>
          </a:xfrm>
          <a:prstGeom prst="line">
            <a:avLst/>
          </a:prstGeom>
          <a:ln w="19050">
            <a:solidFill>
              <a:srgbClr val="607D8B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ectangle 97"/>
          <p:cNvSpPr/>
          <p:nvPr/>
        </p:nvSpPr>
        <p:spPr>
          <a:xfrm>
            <a:off x="1117572" y="761980"/>
            <a:ext cx="7061023" cy="1270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117572" y="1534121"/>
            <a:ext cx="7061023" cy="1270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117572" y="2306262"/>
            <a:ext cx="7061023" cy="1270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117572" y="3078402"/>
            <a:ext cx="7061023" cy="1270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117572" y="3850543"/>
            <a:ext cx="7061023" cy="1270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117572" y="4622684"/>
            <a:ext cx="7061023" cy="1270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117572" y="5394825"/>
            <a:ext cx="7061023" cy="1270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8991375" y="589265"/>
            <a:ext cx="3047923" cy="6177125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 w="25400">
            <a:solidFill>
              <a:srgbClr val="607D8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991375" y="589265"/>
            <a:ext cx="3047923" cy="4571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0A0A0A"/>
                </a:solidFill>
              </a:defRPr>
            </a:pPr>
            <a:r>
              <a:t>AgentCenter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991375" y="1046453"/>
            <a:ext cx="3047923" cy="25400"/>
          </a:xfrm>
          <a:prstGeom prst="rect">
            <a:avLst/>
          </a:prstGeom>
          <a:solidFill>
            <a:srgbClr val="607D8B"/>
          </a:solidFill>
          <a:ln>
            <a:noFill/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9499362" y="1910032"/>
            <a:ext cx="2031949" cy="558786"/>
          </a:xfrm>
          <a:prstGeom prst="roundRect">
            <a:avLst>
              <a:gd name="adj" fmla="val 6000"/>
            </a:avLst>
          </a:prstGeom>
          <a:solidFill>
            <a:srgbClr val="0070F3"/>
          </a:solidFill>
          <a:ln w="254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信息感知</a:t>
            </a:r>
          </a:p>
        </p:txBody>
      </p:sp>
      <p:sp>
        <p:nvSpPr>
          <p:cNvPr id="109" name="Isosceles Triangle 108"/>
          <p:cNvSpPr/>
          <p:nvPr/>
        </p:nvSpPr>
        <p:spPr>
          <a:xfrm rot="10800000">
            <a:off x="10434058" y="2489137"/>
            <a:ext cx="162555" cy="101597"/>
          </a:xfrm>
          <a:prstGeom prst="triangle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9499362" y="3332396"/>
            <a:ext cx="2031949" cy="558786"/>
          </a:xfrm>
          <a:prstGeom prst="roundRect">
            <a:avLst>
              <a:gd name="adj" fmla="val 6000"/>
            </a:avLst>
          </a:prstGeom>
          <a:solidFill>
            <a:srgbClr val="0070F3"/>
          </a:solidFill>
          <a:ln w="254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智能分析</a:t>
            </a:r>
          </a:p>
        </p:txBody>
      </p:sp>
      <p:sp>
        <p:nvSpPr>
          <p:cNvPr id="111" name="Isosceles Triangle 110"/>
          <p:cNvSpPr/>
          <p:nvPr/>
        </p:nvSpPr>
        <p:spPr>
          <a:xfrm rot="10800000">
            <a:off x="10434058" y="3911502"/>
            <a:ext cx="162555" cy="101597"/>
          </a:xfrm>
          <a:prstGeom prst="triangle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9499362" y="4754761"/>
            <a:ext cx="2031949" cy="558786"/>
          </a:xfrm>
          <a:prstGeom prst="roundRect">
            <a:avLst>
              <a:gd name="adj" fmla="val 6000"/>
            </a:avLst>
          </a:prstGeom>
          <a:solidFill>
            <a:srgbClr val="0070F3"/>
          </a:solidFill>
          <a:ln w="254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任务调度</a:t>
            </a:r>
          </a:p>
        </p:txBody>
      </p:sp>
      <p:sp>
        <p:nvSpPr>
          <p:cNvPr id="113" name="Isosceles Triangle 112"/>
          <p:cNvSpPr/>
          <p:nvPr/>
        </p:nvSpPr>
        <p:spPr>
          <a:xfrm rot="10800000">
            <a:off x="10434058" y="5333866"/>
            <a:ext cx="162555" cy="101597"/>
          </a:xfrm>
          <a:prstGeom prst="triangle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9499362" y="6177125"/>
            <a:ext cx="2031949" cy="558786"/>
          </a:xfrm>
          <a:prstGeom prst="roundRect">
            <a:avLst>
              <a:gd name="adj" fmla="val 6000"/>
            </a:avLst>
          </a:prstGeom>
          <a:solidFill>
            <a:srgbClr val="0070F3"/>
          </a:solidFill>
          <a:ln w="254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执行反馈</a:t>
            </a:r>
          </a:p>
        </p:txBody>
      </p:sp>
      <p:sp>
        <p:nvSpPr>
          <p:cNvPr id="115" name="Isosceles Triangle 114"/>
          <p:cNvSpPr/>
          <p:nvPr/>
        </p:nvSpPr>
        <p:spPr>
          <a:xfrm rot="10800000">
            <a:off x="10434058" y="6756230"/>
            <a:ext cx="162555" cy="101597"/>
          </a:xfrm>
          <a:prstGeom prst="triangle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280192" y="1015974"/>
            <a:ext cx="609584" cy="2540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178595" y="812779"/>
            <a:ext cx="812779" cy="182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78909C"/>
                </a:solidFill>
              </a:defRPr>
            </a:pPr>
            <a:r>
              <a:t>调度指令</a:t>
            </a:r>
          </a:p>
        </p:txBody>
      </p:sp>
      <p:sp>
        <p:nvSpPr>
          <p:cNvPr id="118" name="Isosceles Triangle 117"/>
          <p:cNvSpPr/>
          <p:nvPr/>
        </p:nvSpPr>
        <p:spPr>
          <a:xfrm rot="5400000">
            <a:off x="8219234" y="975335"/>
            <a:ext cx="81277" cy="101597"/>
          </a:xfrm>
          <a:prstGeom prst="triangle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280192" y="1727156"/>
            <a:ext cx="609584" cy="2540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178595" y="1523961"/>
            <a:ext cx="812779" cy="182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78909C"/>
                </a:solidFill>
              </a:defRPr>
            </a:pPr>
            <a:r>
              <a:t>配置变更</a:t>
            </a:r>
          </a:p>
        </p:txBody>
      </p:sp>
      <p:sp>
        <p:nvSpPr>
          <p:cNvPr id="121" name="Isosceles Triangle 120"/>
          <p:cNvSpPr/>
          <p:nvPr/>
        </p:nvSpPr>
        <p:spPr>
          <a:xfrm rot="5400000">
            <a:off x="8219234" y="1686517"/>
            <a:ext cx="81277" cy="101597"/>
          </a:xfrm>
          <a:prstGeom prst="triangle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280192" y="2438339"/>
            <a:ext cx="609584" cy="2540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178595" y="2235144"/>
            <a:ext cx="812779" cy="182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78909C"/>
                </a:solidFill>
              </a:defRPr>
            </a:pPr>
            <a:r>
              <a:t>任务分配</a:t>
            </a:r>
          </a:p>
        </p:txBody>
      </p:sp>
      <p:sp>
        <p:nvSpPr>
          <p:cNvPr id="124" name="Isosceles Triangle 123"/>
          <p:cNvSpPr/>
          <p:nvPr/>
        </p:nvSpPr>
        <p:spPr>
          <a:xfrm rot="5400000">
            <a:off x="8219234" y="2397700"/>
            <a:ext cx="81277" cy="101597"/>
          </a:xfrm>
          <a:prstGeom prst="triangle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8280192" y="3555911"/>
            <a:ext cx="609584" cy="2540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178595" y="3352716"/>
            <a:ext cx="812779" cy="182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78909C"/>
                </a:solidFill>
              </a:defRPr>
            </a:pPr>
            <a:r>
              <a:t>状态数据</a:t>
            </a:r>
          </a:p>
        </p:txBody>
      </p:sp>
      <p:sp>
        <p:nvSpPr>
          <p:cNvPr id="127" name="Isosceles Triangle 126"/>
          <p:cNvSpPr/>
          <p:nvPr/>
        </p:nvSpPr>
        <p:spPr>
          <a:xfrm rot="16200000">
            <a:off x="8869458" y="3515272"/>
            <a:ext cx="81277" cy="101597"/>
          </a:xfrm>
          <a:prstGeom prst="triangle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280192" y="4267093"/>
            <a:ext cx="609584" cy="2540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178595" y="4063898"/>
            <a:ext cx="812779" cy="182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78909C"/>
                </a:solidFill>
              </a:defRPr>
            </a:pPr>
            <a:r>
              <a:t>告警信息</a:t>
            </a:r>
          </a:p>
        </p:txBody>
      </p:sp>
      <p:sp>
        <p:nvSpPr>
          <p:cNvPr id="130" name="Isosceles Triangle 129"/>
          <p:cNvSpPr/>
          <p:nvPr/>
        </p:nvSpPr>
        <p:spPr>
          <a:xfrm rot="16200000">
            <a:off x="8869458" y="4226454"/>
            <a:ext cx="81277" cy="101597"/>
          </a:xfrm>
          <a:prstGeom prst="triangle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8280192" y="4978275"/>
            <a:ext cx="609584" cy="2540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178595" y="4775080"/>
            <a:ext cx="812779" cy="182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78909C"/>
                </a:solidFill>
              </a:defRPr>
            </a:pPr>
            <a:r>
              <a:t>质量指标</a:t>
            </a:r>
          </a:p>
        </p:txBody>
      </p:sp>
      <p:sp>
        <p:nvSpPr>
          <p:cNvPr id="133" name="Isosceles Triangle 132"/>
          <p:cNvSpPr/>
          <p:nvPr/>
        </p:nvSpPr>
        <p:spPr>
          <a:xfrm rot="16200000">
            <a:off x="8869458" y="4937636"/>
            <a:ext cx="81277" cy="101597"/>
          </a:xfrm>
          <a:prstGeom prst="triangle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1988500" y="6644473"/>
            <a:ext cx="345431" cy="345431"/>
          </a:xfrm>
          <a:prstGeom prst="ellipse">
            <a:avLst/>
          </a:prstGeom>
          <a:solidFill>
            <a:srgbClr val="007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